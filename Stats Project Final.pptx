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61" r:id="rId5"/>
    <p:sldId id="262" r:id="rId6"/>
    <p:sldId id="263"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03"/>
    <p:restoredTop sz="96286"/>
  </p:normalViewPr>
  <p:slideViewPr>
    <p:cSldViewPr snapToGrid="0">
      <p:cViewPr varScale="1">
        <p:scale>
          <a:sx n="116" d="100"/>
          <a:sy n="116" d="100"/>
        </p:scale>
        <p:origin x="208"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1/29/26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1/29/26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1/29/26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1/29/26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1/29/26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1/29/26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1/29/26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1/29/26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1/29/26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1/29/26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1/29/26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1/29/26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1/29/26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1/29/26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1/29/26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1/29/26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1/29/26</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1/29/26</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2793-0867-AE28-F80F-662124F74577}"/>
              </a:ext>
            </a:extLst>
          </p:cNvPr>
          <p:cNvSpPr>
            <a:spLocks noGrp="1"/>
          </p:cNvSpPr>
          <p:nvPr>
            <p:ph type="ctrTitle"/>
          </p:nvPr>
        </p:nvSpPr>
        <p:spPr/>
        <p:txBody>
          <a:bodyPr/>
          <a:lstStyle/>
          <a:p>
            <a:r>
              <a:rPr lang="en-US" dirty="0"/>
              <a:t>Statistics Data Summary</a:t>
            </a:r>
          </a:p>
        </p:txBody>
      </p:sp>
      <p:sp>
        <p:nvSpPr>
          <p:cNvPr id="3" name="Subtitle 2">
            <a:extLst>
              <a:ext uri="{FF2B5EF4-FFF2-40B4-BE49-F238E27FC236}">
                <a16:creationId xmlns:a16="http://schemas.microsoft.com/office/drawing/2014/main" id="{34FBED0D-B6DA-E050-D18B-3273BF0E268D}"/>
              </a:ext>
            </a:extLst>
          </p:cNvPr>
          <p:cNvSpPr>
            <a:spLocks noGrp="1"/>
          </p:cNvSpPr>
          <p:nvPr>
            <p:ph type="subTitle" idx="1"/>
          </p:nvPr>
        </p:nvSpPr>
        <p:spPr/>
        <p:txBody>
          <a:bodyPr>
            <a:normAutofit/>
          </a:bodyPr>
          <a:lstStyle/>
          <a:p>
            <a:r>
              <a:rPr lang="en-US" sz="4800" dirty="0"/>
              <a:t>Taegan Irving</a:t>
            </a:r>
          </a:p>
        </p:txBody>
      </p:sp>
    </p:spTree>
    <p:extLst>
      <p:ext uri="{BB962C8B-B14F-4D97-AF65-F5344CB8AC3E}">
        <p14:creationId xmlns:p14="http://schemas.microsoft.com/office/powerpoint/2010/main" val="2903878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1C372-5386-08AD-05B1-16D08238BBF0}"/>
              </a:ext>
            </a:extLst>
          </p:cNvPr>
          <p:cNvSpPr>
            <a:spLocks noGrp="1"/>
          </p:cNvSpPr>
          <p:nvPr>
            <p:ph type="title"/>
          </p:nvPr>
        </p:nvSpPr>
        <p:spPr/>
        <p:txBody>
          <a:bodyPr/>
          <a:lstStyle/>
          <a:p>
            <a:r>
              <a:rPr lang="en-US" dirty="0"/>
              <a:t>Executive Summary</a:t>
            </a:r>
          </a:p>
        </p:txBody>
      </p:sp>
      <p:sp>
        <p:nvSpPr>
          <p:cNvPr id="3" name="Content Placeholder 2">
            <a:extLst>
              <a:ext uri="{FF2B5EF4-FFF2-40B4-BE49-F238E27FC236}">
                <a16:creationId xmlns:a16="http://schemas.microsoft.com/office/drawing/2014/main" id="{20A398E0-C4F1-63FF-FE05-E6559439B181}"/>
              </a:ext>
            </a:extLst>
          </p:cNvPr>
          <p:cNvSpPr>
            <a:spLocks noGrp="1"/>
          </p:cNvSpPr>
          <p:nvPr>
            <p:ph idx="1"/>
          </p:nvPr>
        </p:nvSpPr>
        <p:spPr/>
        <p:txBody>
          <a:bodyPr/>
          <a:lstStyle/>
          <a:p>
            <a:r>
              <a:rPr lang="en-US" dirty="0"/>
              <a:t>This report summarizes trends in construction costs, employees, contracts, and lumber prices across time. It highlights seasonal patterns by month and long-run changes by year using descriptive statistics and supporting charts.</a:t>
            </a:r>
          </a:p>
        </p:txBody>
      </p:sp>
    </p:spTree>
    <p:extLst>
      <p:ext uri="{BB962C8B-B14F-4D97-AF65-F5344CB8AC3E}">
        <p14:creationId xmlns:p14="http://schemas.microsoft.com/office/powerpoint/2010/main" val="3133073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610D2AE-07EF-436A-9755-AA8DF4B93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6CACDD17-9043-46DF-882D-420365B79C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4" name="Rectangle 23">
            <a:extLst>
              <a:ext uri="{FF2B5EF4-FFF2-40B4-BE49-F238E27FC236}">
                <a16:creationId xmlns:a16="http://schemas.microsoft.com/office/drawing/2014/main" id="{CF2D8AD5-434A-4C0E-9F5B-C1AFD645F3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FCCD11E-E9E7-D7BA-2DBE-DE2B0A7EB4F8}"/>
              </a:ext>
            </a:extLst>
          </p:cNvPr>
          <p:cNvSpPr>
            <a:spLocks noGrp="1"/>
          </p:cNvSpPr>
          <p:nvPr>
            <p:ph type="title"/>
          </p:nvPr>
        </p:nvSpPr>
        <p:spPr>
          <a:xfrm>
            <a:off x="680321" y="753228"/>
            <a:ext cx="4136123" cy="1080938"/>
          </a:xfrm>
        </p:spPr>
        <p:txBody>
          <a:bodyPr>
            <a:normAutofit/>
          </a:bodyPr>
          <a:lstStyle/>
          <a:p>
            <a:r>
              <a:rPr lang="en-US" sz="2400" dirty="0"/>
              <a:t>Costs by Month</a:t>
            </a:r>
          </a:p>
        </p:txBody>
      </p:sp>
      <p:pic>
        <p:nvPicPr>
          <p:cNvPr id="25" name="Picture 24">
            <a:extLst>
              <a:ext uri="{FF2B5EF4-FFF2-40B4-BE49-F238E27FC236}">
                <a16:creationId xmlns:a16="http://schemas.microsoft.com/office/drawing/2014/main" id="{E92B246D-47CC-40F8-8DE7-B65D409E9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pic>
        <p:nvPicPr>
          <p:cNvPr id="5" name="Content Placeholder 4" descr="A graph with blue and orange lines&#10;&#10;AI-generated content may be incorrect.">
            <a:extLst>
              <a:ext uri="{FF2B5EF4-FFF2-40B4-BE49-F238E27FC236}">
                <a16:creationId xmlns:a16="http://schemas.microsoft.com/office/drawing/2014/main" id="{E06DC4FA-5A7A-03C6-CB2A-94E2B474E7F0}"/>
              </a:ext>
            </a:extLst>
          </p:cNvPr>
          <p:cNvPicPr>
            <a:picLocks noChangeAspect="1"/>
          </p:cNvPicPr>
          <p:nvPr/>
        </p:nvPicPr>
        <p:blipFill>
          <a:blip r:embed="rId4"/>
          <a:stretch>
            <a:fillRect/>
          </a:stretch>
        </p:blipFill>
        <p:spPr>
          <a:xfrm>
            <a:off x="5276090" y="1656761"/>
            <a:ext cx="6303134" cy="3513997"/>
          </a:xfrm>
          <a:prstGeom prst="rect">
            <a:avLst/>
          </a:prstGeom>
          <a:ln>
            <a:noFill/>
          </a:ln>
          <a:effectLst>
            <a:outerShdw blurRad="76200" dist="63500" dir="5040000" algn="tl" rotWithShape="0">
              <a:srgbClr val="000000">
                <a:alpha val="41000"/>
              </a:srgbClr>
            </a:outerShdw>
          </a:effectLst>
        </p:spPr>
      </p:pic>
      <p:sp>
        <p:nvSpPr>
          <p:cNvPr id="8" name="Rectangle 2">
            <a:extLst>
              <a:ext uri="{FF2B5EF4-FFF2-40B4-BE49-F238E27FC236}">
                <a16:creationId xmlns:a16="http://schemas.microsoft.com/office/drawing/2014/main" id="{6BDE8D1F-A86A-8EC3-28E7-A140BC81AF24}"/>
              </a:ext>
            </a:extLst>
          </p:cNvPr>
          <p:cNvSpPr>
            <a:spLocks noGrp="1" noChangeArrowheads="1"/>
          </p:cNvSpPr>
          <p:nvPr>
            <p:ph idx="1"/>
          </p:nvPr>
        </p:nvSpPr>
        <p:spPr bwMode="auto">
          <a:xfrm>
            <a:off x="3176" y="1970241"/>
            <a:ext cx="495287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chart compares the mean and median monthly costs to show seasonal patterns in spending. Costs are lowest in the winter months, especially January and February, and rise through the spring and summer, peaking in late summer and early fall.</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mean is consistently slightly higher than the median, indicating that occasional higher-cost periods increase the average. Overall, the chart highlights clear seasonality, with higher costs during periods of increased construction activity and lower costs during the winter slowdown.</a:t>
            </a:r>
          </a:p>
        </p:txBody>
      </p:sp>
    </p:spTree>
    <p:extLst>
      <p:ext uri="{BB962C8B-B14F-4D97-AF65-F5344CB8AC3E}">
        <p14:creationId xmlns:p14="http://schemas.microsoft.com/office/powerpoint/2010/main" val="4287369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4979F40-3A44-4CCB-9EB7-F8318BCE5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15291D39-6B03-4BB5-BFC6-CBF11E90BFD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6" name="Rectangle 15">
            <a:extLst>
              <a:ext uri="{FF2B5EF4-FFF2-40B4-BE49-F238E27FC236}">
                <a16:creationId xmlns:a16="http://schemas.microsoft.com/office/drawing/2014/main" id="{AFD071FA-0514-4371-9568-86216A1F4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211DDA4-E7B5-4325-A844-B7F59B084B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2D8A0C0-8A50-5C00-58DA-2A762DBEF430}"/>
              </a:ext>
            </a:extLst>
          </p:cNvPr>
          <p:cNvSpPr>
            <a:spLocks noGrp="1"/>
          </p:cNvSpPr>
          <p:nvPr>
            <p:ph type="title"/>
          </p:nvPr>
        </p:nvSpPr>
        <p:spPr>
          <a:xfrm>
            <a:off x="680321" y="753228"/>
            <a:ext cx="4136123" cy="1080938"/>
          </a:xfrm>
        </p:spPr>
        <p:txBody>
          <a:bodyPr>
            <a:normAutofit/>
          </a:bodyPr>
          <a:lstStyle/>
          <a:p>
            <a:r>
              <a:rPr lang="en-US" sz="2400"/>
              <a:t>Costs by Year</a:t>
            </a:r>
          </a:p>
        </p:txBody>
      </p:sp>
      <p:pic>
        <p:nvPicPr>
          <p:cNvPr id="20" name="Picture 19">
            <a:extLst>
              <a:ext uri="{FF2B5EF4-FFF2-40B4-BE49-F238E27FC236}">
                <a16:creationId xmlns:a16="http://schemas.microsoft.com/office/drawing/2014/main" id="{0D58E222-6309-4F79-AC20-9D3C69CD9B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pic>
        <p:nvPicPr>
          <p:cNvPr id="5" name="Content Placeholder 4" descr="A graph with a line and a line&#10;&#10;AI-generated content may be incorrect.">
            <a:extLst>
              <a:ext uri="{FF2B5EF4-FFF2-40B4-BE49-F238E27FC236}">
                <a16:creationId xmlns:a16="http://schemas.microsoft.com/office/drawing/2014/main" id="{A35EA5BE-679C-DCFB-AC40-2FBB08A3FB9A}"/>
              </a:ext>
            </a:extLst>
          </p:cNvPr>
          <p:cNvPicPr>
            <a:picLocks noChangeAspect="1"/>
          </p:cNvPicPr>
          <p:nvPr/>
        </p:nvPicPr>
        <p:blipFill>
          <a:blip r:embed="rId4"/>
          <a:stretch>
            <a:fillRect/>
          </a:stretch>
        </p:blipFill>
        <p:spPr>
          <a:xfrm>
            <a:off x="5276090" y="1681382"/>
            <a:ext cx="6269479" cy="3495235"/>
          </a:xfrm>
          <a:prstGeom prst="rect">
            <a:avLst/>
          </a:prstGeom>
          <a:ln>
            <a:noFill/>
          </a:ln>
          <a:effectLst>
            <a:outerShdw blurRad="76200" dist="63500" dir="5040000" algn="tl" rotWithShape="0">
              <a:srgbClr val="000000">
                <a:alpha val="41000"/>
              </a:srgbClr>
            </a:outerShdw>
          </a:effectLst>
        </p:spPr>
      </p:pic>
      <p:sp>
        <p:nvSpPr>
          <p:cNvPr id="6" name="Rectangle 1">
            <a:extLst>
              <a:ext uri="{FF2B5EF4-FFF2-40B4-BE49-F238E27FC236}">
                <a16:creationId xmlns:a16="http://schemas.microsoft.com/office/drawing/2014/main" id="{19B1A9A5-3473-89CE-FF54-D64064DDE7B1}"/>
              </a:ext>
            </a:extLst>
          </p:cNvPr>
          <p:cNvSpPr>
            <a:spLocks noGrp="1" noChangeArrowheads="1"/>
          </p:cNvSpPr>
          <p:nvPr>
            <p:ph idx="1"/>
          </p:nvPr>
        </p:nvSpPr>
        <p:spPr bwMode="auto">
          <a:xfrm rot="10800000" flipV="1">
            <a:off x="4633" y="2000015"/>
            <a:ext cx="463283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chart shows how average (mean) and typical (median) costs change over time from 1990 to 2003. Costs decline slightly in the early 1990s, reaching a low point around 1992–1993, and then increase steadily through the late 1990s and early 2000s.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median is consistently above the mean, which suggests that a few lower-cost years pull the average down. After the mid-1990s, both measures rise together, indicating sustained growth rather than short-term volatility. Overall, the chart highlights a long-term upward trend in costs, likely driven by increasing activity and rising input prices over time.</a:t>
            </a:r>
          </a:p>
        </p:txBody>
      </p:sp>
    </p:spTree>
    <p:extLst>
      <p:ext uri="{BB962C8B-B14F-4D97-AF65-F5344CB8AC3E}">
        <p14:creationId xmlns:p14="http://schemas.microsoft.com/office/powerpoint/2010/main" val="602225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7D0669C1-CDCE-41C7-A9AB-65D9119F83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40" name="Rectangle 39">
              <a:extLst>
                <a:ext uri="{FF2B5EF4-FFF2-40B4-BE49-F238E27FC236}">
                  <a16:creationId xmlns:a16="http://schemas.microsoft.com/office/drawing/2014/main" id="{1F80B4EE-271C-45C6-9338-555D3B0C4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a:extLst>
                <a:ext uri="{FF2B5EF4-FFF2-40B4-BE49-F238E27FC236}">
                  <a16:creationId xmlns:a16="http://schemas.microsoft.com/office/drawing/2014/main" id="{6FCF3DCC-E585-4F88-8F8B-4EABFEF062C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sp>
        <p:nvSpPr>
          <p:cNvPr id="75" name="Rectangle 74">
            <a:extLst>
              <a:ext uri="{FF2B5EF4-FFF2-40B4-BE49-F238E27FC236}">
                <a16:creationId xmlns:a16="http://schemas.microsoft.com/office/drawing/2014/main" id="{F1AACF4D-AF22-463C-97CE-C34F0783C0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99753"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A896F22-3317-199A-351B-00D9E3581784}"/>
              </a:ext>
            </a:extLst>
          </p:cNvPr>
          <p:cNvSpPr>
            <a:spLocks noGrp="1"/>
          </p:cNvSpPr>
          <p:nvPr>
            <p:ph type="title"/>
          </p:nvPr>
        </p:nvSpPr>
        <p:spPr>
          <a:xfrm>
            <a:off x="487808" y="737625"/>
            <a:ext cx="5632247" cy="1080938"/>
          </a:xfrm>
        </p:spPr>
        <p:txBody>
          <a:bodyPr>
            <a:normAutofit/>
          </a:bodyPr>
          <a:lstStyle/>
          <a:p>
            <a:r>
              <a:rPr lang="en-US" sz="2800" dirty="0">
                <a:latin typeface="Arial" panose="020B0604020202020204" pitchFamily="34" charset="0"/>
                <a:cs typeface="Arial" panose="020B0604020202020204" pitchFamily="34" charset="0"/>
              </a:rPr>
              <a:t>Growth in Employees and Costs Over Time</a:t>
            </a:r>
          </a:p>
        </p:txBody>
      </p:sp>
      <p:pic>
        <p:nvPicPr>
          <p:cNvPr id="76" name="Picture 75">
            <a:extLst>
              <a:ext uri="{FF2B5EF4-FFF2-40B4-BE49-F238E27FC236}">
                <a16:creationId xmlns:a16="http://schemas.microsoft.com/office/drawing/2014/main" id="{6524329A-37E7-4025-B6E9-A97D405368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0"/>
            <a:ext cx="6492240" cy="261714"/>
          </a:xfrm>
          <a:prstGeom prst="rect">
            <a:avLst/>
          </a:prstGeom>
        </p:spPr>
      </p:pic>
      <p:pic>
        <p:nvPicPr>
          <p:cNvPr id="7" name="Content Placeholder 6" descr="A graph with blue dots&#10;&#10;AI-generated content may be incorrect.">
            <a:extLst>
              <a:ext uri="{FF2B5EF4-FFF2-40B4-BE49-F238E27FC236}">
                <a16:creationId xmlns:a16="http://schemas.microsoft.com/office/drawing/2014/main" id="{C4DCDCAF-DBF9-ADFF-2819-AF7F2650BEB1}"/>
              </a:ext>
            </a:extLst>
          </p:cNvPr>
          <p:cNvPicPr>
            <a:picLocks noChangeAspect="1"/>
          </p:cNvPicPr>
          <p:nvPr/>
        </p:nvPicPr>
        <p:blipFill>
          <a:blip r:embed="rId4"/>
          <a:srcRect l="3236" r="3154" b="1"/>
          <a:stretch>
            <a:fillRect/>
          </a:stretch>
        </p:blipFill>
        <p:spPr>
          <a:xfrm>
            <a:off x="6984387" y="484632"/>
            <a:ext cx="4719805" cy="2836084"/>
          </a:xfrm>
          <a:prstGeom prst="rect">
            <a:avLst/>
          </a:prstGeom>
          <a:ln>
            <a:noFill/>
          </a:ln>
          <a:effectLst>
            <a:outerShdw blurRad="76200" dist="63500" dir="5040000" algn="tl" rotWithShape="0">
              <a:srgbClr val="000000">
                <a:alpha val="41000"/>
              </a:srgbClr>
            </a:outerShdw>
          </a:effectLst>
        </p:spPr>
      </p:pic>
      <p:pic>
        <p:nvPicPr>
          <p:cNvPr id="5" name="Content Placeholder 4" descr="A graph showing the cost of a year&#10;&#10;AI-generated content may be incorrect.">
            <a:extLst>
              <a:ext uri="{FF2B5EF4-FFF2-40B4-BE49-F238E27FC236}">
                <a16:creationId xmlns:a16="http://schemas.microsoft.com/office/drawing/2014/main" id="{DD6D8FC1-D4D2-E77C-6DD2-4CDF5628A6A0}"/>
              </a:ext>
            </a:extLst>
          </p:cNvPr>
          <p:cNvPicPr>
            <a:picLocks noChangeAspect="1"/>
          </p:cNvPicPr>
          <p:nvPr/>
        </p:nvPicPr>
        <p:blipFill>
          <a:blip r:embed="rId5"/>
          <a:srcRect r="4092" b="1"/>
          <a:stretch>
            <a:fillRect/>
          </a:stretch>
        </p:blipFill>
        <p:spPr>
          <a:xfrm>
            <a:off x="6984386" y="3632401"/>
            <a:ext cx="4719805" cy="2743530"/>
          </a:xfrm>
          <a:prstGeom prst="rect">
            <a:avLst/>
          </a:prstGeom>
          <a:ln>
            <a:noFill/>
          </a:ln>
          <a:effectLst>
            <a:outerShdw blurRad="76200" dist="63500" dir="5040000" algn="tl" rotWithShape="0">
              <a:srgbClr val="000000">
                <a:alpha val="41000"/>
              </a:srgbClr>
            </a:outerShdw>
          </a:effectLst>
        </p:spPr>
      </p:pic>
      <p:sp>
        <p:nvSpPr>
          <p:cNvPr id="28" name="Rectangle 4">
            <a:extLst>
              <a:ext uri="{FF2B5EF4-FFF2-40B4-BE49-F238E27FC236}">
                <a16:creationId xmlns:a16="http://schemas.microsoft.com/office/drawing/2014/main" id="{28F5104F-820F-D250-9041-37AC879DECF4}"/>
              </a:ext>
            </a:extLst>
          </p:cNvPr>
          <p:cNvSpPr>
            <a:spLocks noGrp="1" noChangeArrowheads="1"/>
          </p:cNvSpPr>
          <p:nvPr>
            <p:ph idx="1"/>
          </p:nvPr>
        </p:nvSpPr>
        <p:spPr bwMode="auto">
          <a:xfrm>
            <a:off x="61670" y="1878743"/>
            <a:ext cx="6031154"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upward trend in employee counts indicates deliberate workforce expansion to support growing operations. Early years show limited variation, suggesting a stable labor structure, while later years exhibit higher levels and more dispersion, implying scaling, role specialization, and increased capacity. This suggests that labor growth is a structural response to sustained increases in demand rather than short-term hiring.</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strong upward trend in costs reflects long-term growth in operational scale rather than random fluctuations. The increasing spread in later years indicates rising variability in expenses, likely driven by larger projects, higher material prices, and expanded staffing. With employee growth, the cost trend shows that expenses are closely tied to expansion and rising input costs, reinforcing the interpretation of sustained business growth.</a:t>
            </a:r>
          </a:p>
        </p:txBody>
      </p:sp>
    </p:spTree>
    <p:extLst>
      <p:ext uri="{BB962C8B-B14F-4D97-AF65-F5344CB8AC3E}">
        <p14:creationId xmlns:p14="http://schemas.microsoft.com/office/powerpoint/2010/main" val="2731858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D0669C1-CDCE-41C7-A9AB-65D9119F83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15" name="Rectangle 14">
              <a:extLst>
                <a:ext uri="{FF2B5EF4-FFF2-40B4-BE49-F238E27FC236}">
                  <a16:creationId xmlns:a16="http://schemas.microsoft.com/office/drawing/2014/main" id="{1F80B4EE-271C-45C6-9338-555D3B0C4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6FCF3DCC-E585-4F88-8F8B-4EABFEF062C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sp>
        <p:nvSpPr>
          <p:cNvPr id="18" name="Rectangle 17">
            <a:extLst>
              <a:ext uri="{FF2B5EF4-FFF2-40B4-BE49-F238E27FC236}">
                <a16:creationId xmlns:a16="http://schemas.microsoft.com/office/drawing/2014/main" id="{F1AACF4D-AF22-463C-97CE-C34F0783C0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99753"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5E4E4B8-44B4-E2B4-ED9D-4D384A015F3D}"/>
              </a:ext>
            </a:extLst>
          </p:cNvPr>
          <p:cNvSpPr>
            <a:spLocks noGrp="1"/>
          </p:cNvSpPr>
          <p:nvPr>
            <p:ph type="title"/>
          </p:nvPr>
        </p:nvSpPr>
        <p:spPr>
          <a:xfrm>
            <a:off x="680321" y="753228"/>
            <a:ext cx="5632247" cy="1080938"/>
          </a:xfrm>
        </p:spPr>
        <p:txBody>
          <a:bodyPr>
            <a:normAutofit/>
          </a:bodyPr>
          <a:lstStyle/>
          <a:p>
            <a:r>
              <a:rPr lang="en-US" sz="2800" dirty="0">
                <a:latin typeface="Arial" panose="020B0604020202020204" pitchFamily="34" charset="0"/>
                <a:cs typeface="Arial" panose="020B0604020202020204" pitchFamily="34" charset="0"/>
              </a:rPr>
              <a:t>Rising Demand and Increasing Input Cost Pressure</a:t>
            </a:r>
          </a:p>
        </p:txBody>
      </p:sp>
      <p:pic>
        <p:nvPicPr>
          <p:cNvPr id="20" name="Picture 19">
            <a:extLst>
              <a:ext uri="{FF2B5EF4-FFF2-40B4-BE49-F238E27FC236}">
                <a16:creationId xmlns:a16="http://schemas.microsoft.com/office/drawing/2014/main" id="{6524329A-37E7-4025-B6E9-A97D405368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0"/>
            <a:ext cx="6492240" cy="261714"/>
          </a:xfrm>
          <a:prstGeom prst="rect">
            <a:avLst/>
          </a:prstGeom>
        </p:spPr>
      </p:pic>
      <p:pic>
        <p:nvPicPr>
          <p:cNvPr id="5" name="Content Placeholder 4" descr="A graph with blue dots and numbers&#10;&#10;AI-generated content may be incorrect.">
            <a:extLst>
              <a:ext uri="{FF2B5EF4-FFF2-40B4-BE49-F238E27FC236}">
                <a16:creationId xmlns:a16="http://schemas.microsoft.com/office/drawing/2014/main" id="{E6DFD353-AAE1-CCF8-20DB-2E97153C4F14}"/>
              </a:ext>
            </a:extLst>
          </p:cNvPr>
          <p:cNvPicPr>
            <a:picLocks noChangeAspect="1"/>
          </p:cNvPicPr>
          <p:nvPr/>
        </p:nvPicPr>
        <p:blipFill>
          <a:blip r:embed="rId4"/>
          <a:srcRect l="3867" r="2524" b="1"/>
          <a:stretch>
            <a:fillRect/>
          </a:stretch>
        </p:blipFill>
        <p:spPr>
          <a:xfrm>
            <a:off x="6984387" y="484632"/>
            <a:ext cx="4719805" cy="2836084"/>
          </a:xfrm>
          <a:prstGeom prst="rect">
            <a:avLst/>
          </a:prstGeom>
          <a:ln>
            <a:noFill/>
          </a:ln>
          <a:effectLst>
            <a:outerShdw blurRad="76200" dist="63500" dir="5040000" algn="tl" rotWithShape="0">
              <a:srgbClr val="000000">
                <a:alpha val="41000"/>
              </a:srgbClr>
            </a:outerShdw>
          </a:effectLst>
        </p:spPr>
      </p:pic>
      <p:pic>
        <p:nvPicPr>
          <p:cNvPr id="7" name="Picture 6" descr="A graph showing the difference between lumber and lumber&#10;&#10;AI-generated content may be incorrect.">
            <a:extLst>
              <a:ext uri="{FF2B5EF4-FFF2-40B4-BE49-F238E27FC236}">
                <a16:creationId xmlns:a16="http://schemas.microsoft.com/office/drawing/2014/main" id="{F58AEDED-183C-5566-D29C-F9D64563CE83}"/>
              </a:ext>
            </a:extLst>
          </p:cNvPr>
          <p:cNvPicPr>
            <a:picLocks noChangeAspect="1"/>
          </p:cNvPicPr>
          <p:nvPr/>
        </p:nvPicPr>
        <p:blipFill>
          <a:blip r:embed="rId5"/>
          <a:srcRect r="4092" b="1"/>
          <a:stretch>
            <a:fillRect/>
          </a:stretch>
        </p:blipFill>
        <p:spPr>
          <a:xfrm>
            <a:off x="6984386" y="3632401"/>
            <a:ext cx="4719805" cy="2743530"/>
          </a:xfrm>
          <a:prstGeom prst="rect">
            <a:avLst/>
          </a:prstGeom>
          <a:ln>
            <a:noFill/>
          </a:ln>
          <a:effectLst>
            <a:outerShdw blurRad="76200" dist="63500" dir="5040000" algn="tl" rotWithShape="0">
              <a:srgbClr val="000000">
                <a:alpha val="41000"/>
              </a:srgbClr>
            </a:outerShdw>
          </a:effectLst>
        </p:spPr>
      </p:pic>
      <p:sp>
        <p:nvSpPr>
          <p:cNvPr id="8" name="Rectangle 1">
            <a:extLst>
              <a:ext uri="{FF2B5EF4-FFF2-40B4-BE49-F238E27FC236}">
                <a16:creationId xmlns:a16="http://schemas.microsoft.com/office/drawing/2014/main" id="{5372EB22-270E-A95D-6FAA-F4D25DEB5EE9}"/>
              </a:ext>
            </a:extLst>
          </p:cNvPr>
          <p:cNvSpPr>
            <a:spLocks noGrp="1" noChangeArrowheads="1"/>
          </p:cNvSpPr>
          <p:nvPr>
            <p:ph idx="1"/>
          </p:nvPr>
        </p:nvSpPr>
        <p:spPr bwMode="auto">
          <a:xfrm>
            <a:off x="114878" y="1890164"/>
            <a:ext cx="597794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steady increase in contracts over time indicates sustained growth in demand rather than short-term fluctuations. The relatively tight clustering in early years suggests stable but limited activity, while the higher and more spread-out values in later years imply both expansion and increasing variability in project volume. This pattern is consistent with a firm scaling operations and taking on a broader mix of projects as capacity grows.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upward trend in lumber prices reflects rising input costs over the period, driven by increased demand and broader market pressures. The growing dispersion in later years suggests heightened price volatility, which can increase cost uncertainty for projects. This explains rising overall costs and highlights material prices as a key driver of financial risk and expense growth over time.</a:t>
            </a:r>
          </a:p>
        </p:txBody>
      </p:sp>
    </p:spTree>
    <p:extLst>
      <p:ext uri="{BB962C8B-B14F-4D97-AF65-F5344CB8AC3E}">
        <p14:creationId xmlns:p14="http://schemas.microsoft.com/office/powerpoint/2010/main" val="3499331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4979F40-3A44-4CCB-9EB7-F8318BCE5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15291D39-6B03-4BB5-BFC6-CBF11E90BFD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8" name="Rectangle 17">
            <a:extLst>
              <a:ext uri="{FF2B5EF4-FFF2-40B4-BE49-F238E27FC236}">
                <a16:creationId xmlns:a16="http://schemas.microsoft.com/office/drawing/2014/main" id="{AFD071FA-0514-4371-9568-86216A1F4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11DDA4-E7B5-4325-A844-B7F59B084B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2A51C22-3F89-4DC5-F8F3-491D5637499F}"/>
              </a:ext>
            </a:extLst>
          </p:cNvPr>
          <p:cNvSpPr>
            <a:spLocks noGrp="1"/>
          </p:cNvSpPr>
          <p:nvPr>
            <p:ph type="title"/>
          </p:nvPr>
        </p:nvSpPr>
        <p:spPr>
          <a:xfrm>
            <a:off x="680321" y="753228"/>
            <a:ext cx="4136123" cy="1080938"/>
          </a:xfrm>
        </p:spPr>
        <p:txBody>
          <a:bodyPr>
            <a:normAutofit/>
          </a:bodyPr>
          <a:lstStyle/>
          <a:p>
            <a:r>
              <a:rPr lang="en-US" sz="2400"/>
              <a:t>Final Economic Takeaway</a:t>
            </a:r>
          </a:p>
        </p:txBody>
      </p:sp>
      <p:pic>
        <p:nvPicPr>
          <p:cNvPr id="22" name="Picture 21">
            <a:extLst>
              <a:ext uri="{FF2B5EF4-FFF2-40B4-BE49-F238E27FC236}">
                <a16:creationId xmlns:a16="http://schemas.microsoft.com/office/drawing/2014/main" id="{0D58E222-6309-4F79-AC20-9D3C69CD9B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6" name="Rectangle 3">
            <a:extLst>
              <a:ext uri="{FF2B5EF4-FFF2-40B4-BE49-F238E27FC236}">
                <a16:creationId xmlns:a16="http://schemas.microsoft.com/office/drawing/2014/main" id="{6806A298-5527-45BF-C37B-CFB45E363D8C}"/>
              </a:ext>
            </a:extLst>
          </p:cNvPr>
          <p:cNvSpPr>
            <a:spLocks noGrp="1" noChangeArrowheads="1"/>
          </p:cNvSpPr>
          <p:nvPr>
            <p:ph idx="1"/>
          </p:nvPr>
        </p:nvSpPr>
        <p:spPr bwMode="auto">
          <a:xfrm>
            <a:off x="680321" y="2336873"/>
            <a:ext cx="3656289" cy="359931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400" b="0" i="0" u="none" strike="noStrike" cap="none" normalizeH="0" baseline="0" dirty="0">
                <a:ln>
                  <a:noFill/>
                </a:ln>
                <a:effectLst/>
                <a:latin typeface="Arial" panose="020B0604020202020204" pitchFamily="34" charset="0"/>
              </a:rPr>
              <a:t>The data shows sustained demand growth, reflected in rising contracts and workforce expansion. As output increases, firms hire more labor to expand capacity, which raises operating costs. At the same time, rising lumber prices increase input costs, pushing total expenses higher.</a:t>
            </a:r>
          </a:p>
          <a:p>
            <a:pPr marL="0" marR="0" lvl="0" indent="0" defTabSz="914400" rtl="0" eaLnBrk="0" fontAlgn="base" latinLnBrk="0" hangingPunct="0">
              <a:spcBef>
                <a:spcPct val="0"/>
              </a:spcBef>
              <a:spcAft>
                <a:spcPts val="600"/>
              </a:spcAft>
              <a:buClrTx/>
              <a:buSzTx/>
              <a:buFontTx/>
              <a:buNone/>
              <a:tabLst/>
            </a:pPr>
            <a:endParaRPr kumimoji="0" lang="en-US" altLang="en-US" sz="14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sz="1400" b="0" i="0" u="none" strike="noStrike" cap="none" normalizeH="0" baseline="0" dirty="0">
                <a:ln>
                  <a:noFill/>
                </a:ln>
                <a:effectLst/>
                <a:latin typeface="Arial" panose="020B0604020202020204" pitchFamily="34" charset="0"/>
              </a:rPr>
              <a:t>Economically, this reflects both movement along the cost curve from higher production and an upward shift in costs from input price inflation. Overall, growth in demand combined with rising input prices explains the long-run increase in costs and variability over time.</a:t>
            </a:r>
          </a:p>
          <a:p>
            <a:pPr marL="0" marR="0" lvl="0" indent="0" defTabSz="914400" rtl="0" eaLnBrk="0" fontAlgn="base" latinLnBrk="0" hangingPunct="0">
              <a:spcBef>
                <a:spcPct val="0"/>
              </a:spcBef>
              <a:spcAft>
                <a:spcPts val="600"/>
              </a:spcAft>
              <a:buClrTx/>
              <a:buSzTx/>
              <a:buFontTx/>
              <a:buNone/>
              <a:tabLst/>
            </a:pPr>
            <a:endParaRPr lang="en-US" altLang="en-US" sz="1400" dirty="0">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en-US" altLang="en-US" sz="1400" b="0" i="0" u="none" strike="noStrike" cap="none" normalizeH="0" baseline="0" dirty="0">
              <a:ln>
                <a:noFill/>
              </a:ln>
              <a:effectLst/>
              <a:latin typeface="Arial" panose="020B0604020202020204" pitchFamily="34" charset="0"/>
            </a:endParaRPr>
          </a:p>
        </p:txBody>
      </p:sp>
      <p:pic>
        <p:nvPicPr>
          <p:cNvPr id="9" name="Picture 8" descr="A graph with blue and orange lines&#10;&#10;AI-generated content may be incorrect.">
            <a:extLst>
              <a:ext uri="{FF2B5EF4-FFF2-40B4-BE49-F238E27FC236}">
                <a16:creationId xmlns:a16="http://schemas.microsoft.com/office/drawing/2014/main" id="{023B0AF1-D428-FA82-4490-26B31D057BC4}"/>
              </a:ext>
            </a:extLst>
          </p:cNvPr>
          <p:cNvPicPr>
            <a:picLocks noChangeAspect="1"/>
          </p:cNvPicPr>
          <p:nvPr/>
        </p:nvPicPr>
        <p:blipFill>
          <a:blip r:embed="rId4"/>
          <a:stretch>
            <a:fillRect/>
          </a:stretch>
        </p:blipFill>
        <p:spPr>
          <a:xfrm>
            <a:off x="5276090" y="1360072"/>
            <a:ext cx="6269479" cy="4137856"/>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1755516294"/>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Berlin</Template>
  <TotalTime>73</TotalTime>
  <Words>633</Words>
  <Application>Microsoft Macintosh PowerPoint</Application>
  <PresentationFormat>Widescreen</PresentationFormat>
  <Paragraphs>23</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Trebuchet MS</vt:lpstr>
      <vt:lpstr>Berlin</vt:lpstr>
      <vt:lpstr>Statistics Data Summary</vt:lpstr>
      <vt:lpstr>Executive Summary</vt:lpstr>
      <vt:lpstr>Costs by Month</vt:lpstr>
      <vt:lpstr>Costs by Year</vt:lpstr>
      <vt:lpstr>Growth in Employees and Costs Over Time</vt:lpstr>
      <vt:lpstr>Rising Demand and Increasing Input Cost Pressure</vt:lpstr>
      <vt:lpstr>Final Economic Takeaway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Irving, Taegan</dc:creator>
  <cp:lastModifiedBy>Irving, Taegan</cp:lastModifiedBy>
  <cp:revision>1</cp:revision>
  <dcterms:created xsi:type="dcterms:W3CDTF">2026-01-29T21:35:57Z</dcterms:created>
  <dcterms:modified xsi:type="dcterms:W3CDTF">2026-01-29T22:52:30Z</dcterms:modified>
</cp:coreProperties>
</file>